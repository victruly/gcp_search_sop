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64592" cy="3474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Microsoft JhengHei"/>
              </a:defRPr>
            </a:pPr>
            <a:r>
              <a:t>ENTERPRISE SEARCH IMPLEMENTATION SOP · 企業級架構與維運指南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Google Cloud (GCP) Vertex AI Search</a:t>
            </a:r>
            <a:br/>
            <a:r>
              <a:t>企業智慧搜尋建置與整合標準作業程序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Microsoft JhengHei"/>
              </a:defRPr>
            </a:pPr>
            <a:r>
              <a:t>從零到一完整實作：專案建立、50 網站白名單檢索、服務帳戶私鑰授權與 Python 後端整合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480560"/>
            <a:ext cx="96012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709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呈報對象</a:t>
            </a:r>
          </a:p>
          <a:p>
            <a:pPr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主管 / 專案審查主管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709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報告架構</a:t>
            </a:r>
          </a:p>
          <a:p>
            <a:pPr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10 步驟標準 SOP (含檢核點)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709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資安等級</a:t>
            </a:r>
          </a:p>
          <a:p>
            <a:pPr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機密等級 (Confidential)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709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icrosoft JhengHei"/>
              </a:defRPr>
            </a:pPr>
            <a:r>
              <a:t>系統狀態</a:t>
            </a:r>
          </a:p>
          <a:p>
            <a:pPr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已完成驗證 / 生產就緒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28600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A73E8"/>
                </a:solidFill>
                <a:latin typeface="Microsoft JhengHei"/>
              </a:defRPr>
            </a:pPr>
            <a:r>
              <a:t>SOP STEP 00 · 架構綜覽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JhengHei"/>
              </a:defRPr>
            </a:pPr>
            <a:r>
              <a:t>端到端系統架構與業務價值總覽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🎯 本步作業目標：理解專案運作藍圖、安全性防護機制與全流程 10 大執行階段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291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288950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💡 企業建置效益與價值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• 零爬蟲維護負擔：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由 Google 全球分散式爬蟲自動爬取與索引 50 個網站，免除自建 Scraper 成本。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• Google 語意搜尋與 AI：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超越傳統關鍵字比對，具備自然語言理解 (NLU) 與 Generative AI 答案摘要功能。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• 企業級資安隔離：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金鑰存放於後端隔離環境，前端不接觸私鑰，符合企業最高資訊安全審查標準。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• 毫秒級搜尋回應：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實測回應時間落在 200~400ms，大幅提升內部同仁與終端客戶的檢索效率。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00200"/>
            <a:ext cx="725393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728216"/>
            <a:ext cx="685159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🏛️ 系統端到端架構流程圖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057400"/>
            <a:ext cx="6888175" cy="13716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21408"/>
            <a:ext cx="67052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ADE80"/>
                </a:solidFill>
                <a:latin typeface="Consolas"/>
              </a:defRPr>
            </a:pPr>
            <a:r>
              <a:t>[50 個目標產業網站] ──(Googlebot 索引)──&gt; [GCP Vertex AI Search (Data Store)]</a:t>
            </a:r>
            <a:br/>
            <a:r>
              <a:t>                                                      │</a:t>
            </a:r>
            <a:br/>
            <a:r>
              <a:t>[前端瀏覽器 / UI] ──(POST /api/search)──&gt; [Python 後端 Flask API]</a:t>
            </a:r>
            <a:br/>
            <a:r>
              <a:t>                                      (使用私鑰 OAuth2 安全認證) │</a:t>
            </a:r>
            <a:br/>
            <a:r>
              <a:t>                                                      ▼</a:t>
            </a:r>
            <a:br/>
            <a:r>
              <a:t>                                      [GCP Discovery Engine API]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749039"/>
            <a:ext cx="725393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3877055"/>
            <a:ext cx="685159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📋 SOP 10 大標準實施步驟階段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160520"/>
            <a:ext cx="68881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557B0"/>
                </a:solidFill>
                <a:latin typeface="Microsoft JhengHei"/>
              </a:defRPr>
            </a:pPr>
            <a:r>
              <a:t>Phase 1 (雲端環境置備) : STEP 01 專案建立 ➔ STEP 02 啟用 API ➔ STEP 03 建立 App</a:t>
            </a:r>
            <a:br/>
            <a:r>
              <a:t>Phase 2 (檢索資料集建立): STEP 04 建立 Data Store ➔ STEP 05 批量匯入 50 個網站白名單</a:t>
            </a:r>
            <a:br/>
            <a:r>
              <a:t>Phase 3 (資安與金鑰授權): STEP 06 IAM 角色授權 ➔ STEP 07 生成並安全下載私鑰 JSON</a:t>
            </a:r>
            <a:br/>
            <a:r>
              <a:t>Phase 4 (後端串接與驗證): STEP 08 Python 環境 ➔ STEP 09 SDK 撰寫 ➔ STEP 10 前後端測試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96128"/>
            <a:ext cx="10728655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Microsoft JhengHei"/>
              </a:defRPr>
            </a:pPr>
            <a:r>
              <a:t>✅ SOP 階段檢核點 (Acceptance Criteria)：確認架構符合專案規範，全流程共 10 步驟均通過技術可行性評估。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GCP Vertex AI Search 企業建置與整合標準作業程序 (SOP) · 內部機密技術報告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375" y="63276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28600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A73E8"/>
                </a:solidFill>
                <a:latin typeface="Microsoft JhengHei"/>
              </a:defRPr>
            </a:pPr>
            <a:r>
              <a:t>SOP STEP 01 · 雲端環境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JhengHei"/>
              </a:defRPr>
            </a:pPr>
            <a:r>
              <a:t>申請 GCP 帳號與建立新專案 (Project)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🎯 本步作業目標：建立專案命名空間、關聯計費帳戶並設定安全預算警示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2179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58155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📝 介面操作步驟 (Console Operations)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1. 登入 Google Cloud 控制台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瀏覽器前往 https://console.cloud.google.com/，使用企業管理員或技術負責人帳號登入。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2. 建立新專案 (Create Project)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點擊頂端列的「專案選單下拉鈕」➔ 點選視窗右上角「新增專案 (New Project)」。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3. 設定專案識別名稱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輸入專案名稱 (如 `enterprise-search-service`)，系統會自動生成全域唯一 Project ID (如 `gen-lang-client-xxxxxxx`)。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4. 關聯計費帳戶 (Billing Account)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導航至「帳單 (Billing)」專區，將專案連結至公司企業合約或啟用 $300 美金免費試用帳戶。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5. 設定預算警示 (Budget Alert)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在帳單後台建立預算預警 (例如達 50%、80%、100% 時寄發 Email 警報通知主管)。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00200"/>
            <a:ext cx="43278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172821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🔑 關鍵配置參數 (Parameters)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5740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Microsoft JhengHei"/>
              </a:defRPr>
            </a:pPr>
            <a:r>
              <a:t>• 專案名稱 (Project Name)：gcp-agent-search</a:t>
            </a:r>
            <a:br/>
            <a:r>
              <a:t>• 專案 ID (Project ID)：gen-lang-client-0687915907</a:t>
            </a:r>
            <a:br/>
            <a:r>
              <a:t>• 預設計費帳戶：Enterprise Billing Account</a:t>
            </a:r>
            <a:br/>
            <a:r>
              <a:t>• 資源層級：Organization / Root Folder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566160"/>
            <a:ext cx="4327855" cy="1874519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369417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⚠️ 主管與資安審核重點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977639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2400E"/>
                </a:solidFill>
                <a:latin typeface="Microsoft JhengHei"/>
              </a:defRPr>
            </a:pPr>
            <a:r>
              <a:t>1. 計費關聯是必要前置條件：若未綁定計費帳戶，後續 Discovery Engine API 將無法被啟用。</a:t>
            </a:r>
            <a:br/>
            <a:r>
              <a:t>2. Project ID 一旦建立不可更改：所有後端環境變數、IAM 授權與 API 路徑均嚴格綁定此 ID。</a:t>
            </a:r>
            <a:br/>
            <a:r>
              <a:t>3. 成本防護措施：預算警示能保障雲端花費透明可控。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96128"/>
            <a:ext cx="10728655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Microsoft JhengHei"/>
              </a:defRPr>
            </a:pPr>
            <a:r>
              <a:t>✅ SOP 階段檢核點 (Acceptance Criteria)：取得有效且已啟用計費的專案 ID (Project ID)，能在控制台正常切換專案。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GCP Vertex AI Search 企業建置與整合標準作業程序 (SOP) · 內部機密技術報告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3276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28600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A73E8"/>
                </a:solidFill>
                <a:latin typeface="Microsoft JhengHei"/>
              </a:defRPr>
            </a:pPr>
            <a:r>
              <a:t>SOP STEP 02 · 雲端環境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JhengHei"/>
              </a:defRPr>
            </a:pPr>
            <a:r>
              <a:t>啟用 Vertex AI Search (Agent Builder) 與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🎯 本步作業目標：啟動 Google 核心語意搜尋服務引擎 (Discovery Engine 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2179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58155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📝 介面操作步驟 (Console Operations)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1. 導航至 Agent Builder 服務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在 Google Cloud Console 頂端搜尋欄輸入「Agent Builder」或「Vertex AI Search」並按下 Enter。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2. 首次服務啟動引導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若是專案首次進入，頁面會出現服務條款與歡迎畫面，點選「繼續並啟用 API (Continue and activate the API)」。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3. 等候 API 自動佈署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GCP 系統會在背景自動配置 `discoveryengine.googleapis.com` 資源，約需等待 1 至 2 分鐘。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4. 檢查 API 服務啟用狀態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前往「API 和服務」➔「已啟用的 API 和服務」，確認清單中包含 Discovery Engine API 且狀態為綠色正常。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00200"/>
            <a:ext cx="43278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172821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🔑 API 服務規格與端點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5740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Microsoft JhengHei"/>
              </a:defRPr>
            </a:pPr>
            <a:r>
              <a:t>• API 名稱：Discovery Engine API</a:t>
            </a:r>
            <a:br/>
            <a:r>
              <a:t>• 服務識別碼：discoveryengine.googleapis.com</a:t>
            </a:r>
            <a:br/>
            <a:r>
              <a:t>• 預設呼叫區域 (Location)：global (全球分散式)</a:t>
            </a:r>
            <a:br/>
            <a:r>
              <a:t>• 包含功能：語意檢索、AI 答案摘要、網站爬取管理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566160"/>
            <a:ext cx="4327855" cy="1874519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369417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⚠️ 常見阻礙與除錯建議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977639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2400E"/>
                </a:solidFill>
                <a:latin typeface="Microsoft JhengHei"/>
              </a:defRPr>
            </a:pPr>
            <a:r>
              <a:t>1. 權限不足問題：操作人員需具備專案 Owner 或 Service Usage Admin 角色，方可啟用雲端 API。</a:t>
            </a:r>
            <a:br/>
            <a:r>
              <a:t>2. 佈署延遲處理：若啟用後立即呼叫 API 出現 404/403，請靜候 2~3 分鐘待全域 IAM 與 DNS 規則生效。</a:t>
            </a:r>
            <a:br/>
            <a:r>
              <a:t>3. 區域選擇提示：企業資料若無特定主權限制，建議一律維持 global。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96128"/>
            <a:ext cx="10728655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Microsoft JhengHei"/>
              </a:defRPr>
            </a:pPr>
            <a:r>
              <a:t>✅ SOP 階段檢核點 (Acceptance Criteria)：Discovery Engine API 顯示為啟用中，Console 能順暢進入 Agent Builder 儀表板。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GCP Vertex AI Search 企業建置與整合標準作業程序 (SOP) · 內部機密技術報告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3276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28600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A73E8"/>
                </a:solidFill>
                <a:latin typeface="Microsoft JhengHei"/>
              </a:defRPr>
            </a:pPr>
            <a:r>
              <a:t>SOP STEP 03 · 搜尋實體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JhengHei"/>
              </a:defRPr>
            </a:pPr>
            <a:r>
              <a:t>建立 Search 應用程式 (App / Engine)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🎯 本步作業目標：配置搜尋引擎實體、自訂功能特性並生成專屬 Engine 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2179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58155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📝 介面操作步驟 (Console Operations)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1. 進入 Agent Builder Apps 管理區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於 Agent Builder 儀表板，在左側主選單點選「應用程式 (Apps)」進入管理列表。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2. 點擊「建立應用程式 (Create App)」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點選頂端的「＋ 建立應用程式」按鈕開始設定。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3. 選擇應用程式類型：搜尋 (Search)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在四大類型 (Search / Chat / Recommendation / Agent) 中，選擇「搜尋 (Search)」類型。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4. 啟用進階與 AI 生成功能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勾選「企業版功能 (Enterprise Edition)」與「Generative Answers (AI 答案總結)」選項。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5. 命名並產生 Engine ID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輸入應用程式名稱 (如 `pbsearch`)，系統將生成專屬 Engine ID (如 `pbsearch_1791792965002`)。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00200"/>
            <a:ext cx="43278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172821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🔑 應用程式配置參數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5740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Microsoft JhengHei"/>
              </a:defRPr>
            </a:pPr>
            <a:r>
              <a:t>• 應用程式類型：Search (Generic Search)</a:t>
            </a:r>
            <a:br/>
            <a:r>
              <a:t>• 應用程式名稱：pbsearch</a:t>
            </a:r>
            <a:br/>
            <a:r>
              <a:t>• 引擎識別碼 (Engine ID)：pbsearch_1791792965002</a:t>
            </a:r>
            <a:br/>
            <a:r>
              <a:t>• AI 摘要功能 (Generative AI)：已啟用 (含來源標註)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566160"/>
            <a:ext cx="432785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369417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⚠️ 關鍵架構決策說明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977639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1. 引擎 (Engine) 與資料庫 (Data Store) 解耦：一個 Engine 可掛載多個 Data Store，具備高度彈性。</a:t>
            </a:r>
            <a:br/>
            <a:r>
              <a:t>2. Engine ID 為後端 API 必填路徑：後端 Python 程式碼發送 SearchRequest 時，必須帶入此 Engine ID。</a:t>
            </a:r>
            <a:br/>
            <a:r>
              <a:t>3. AI 摘要計費：啟用 Generative Summary 會帶來極佳的用戶體驗，且計費公開透明。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96128"/>
            <a:ext cx="10728655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Microsoft JhengHei"/>
              </a:defRPr>
            </a:pPr>
            <a:r>
              <a:t>✅ SOP 階段檢核點 (Acceptance Criteria)：成功建立 Search App，記錄專屬 Engine ID 供後續 Python 後端設定使用。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GCP Vertex AI Search 企業建置與整合標準作業程序 (SOP) · 內部機密技術報告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3276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28600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A73E8"/>
                </a:solidFill>
                <a:latin typeface="Microsoft JhengHei"/>
              </a:defRPr>
            </a:pPr>
            <a:r>
              <a:t>SOP STEP 04 · 資料來源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JhengHei"/>
              </a:defRPr>
            </a:pPr>
            <a:r>
              <a:t>建立資料存放區 (Data Store) 並配置網站檢索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🎯 本步作業目標：建立資料儲存庫，核心選用「進階網站搜尋 (Advanced)」免驗證外部網域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2179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58155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📝 介面操作步驟 (Console Operations)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1. 進入 Data Stores 建立流程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在建立 App 的「資料」步驟或前往「資料存放區 (Data Stores)」頁面，點選「建立資料存放區」。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2. 選擇資料來源：網站 (Websites)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資料來源類型中選取「網站 (Websites)」以支援公開網際網路頁面檢索。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3. ★關鍵步驟：選取進階網站搜尋 (Advanced)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在網站搜尋模式中，務必選取「進階網站搜尋 (Advanced Website Search)」，切勿選基礎模式。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4. 命名資料存放區並完成綁定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輸入資料庫名稱 (如 `pbdatastore`)，系統生成 Data Store ID (如 `pbdatastore_1791793664793`)，並將其連接至 Search App。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00200"/>
            <a:ext cx="4327855" cy="19202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172821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557B0"/>
                </a:solidFill>
                <a:latin typeface="Microsoft JhengHei"/>
              </a:defRPr>
            </a:pPr>
            <a:r>
              <a:t>⭐ 核心決策：基礎 vs 進階網站搜尋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1168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57B0"/>
                </a:solidFill>
                <a:latin typeface="Microsoft JhengHei"/>
              </a:defRPr>
            </a:pPr>
            <a:r>
              <a:t>• 基礎模式 (Basic)：要求 Google Search Console 驗證網域擁有權。僅能爬取公司自家持有的單一網域！</a:t>
            </a:r>
            <a:br/>
            <a:r>
              <a:t>• 進階模式 (Advanced)：免網域驗證！可自由爬取第三方、產業協會、技術論壇等 50 個外部公開網站。</a:t>
            </a:r>
            <a:br/>
            <a:r>
              <a:t>➔ 結論：要涵蓋 50 個多元網站，必須選擇 Advanced！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657600"/>
            <a:ext cx="4327855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378561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🔑 資料庫配置參數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06908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  <a:latin typeface="Microsoft JhengHei"/>
              </a:defRPr>
            </a:pPr>
            <a:r>
              <a:t>• 資料來源：Website (公開網頁)</a:t>
            </a:r>
            <a:br/>
            <a:r>
              <a:t>• 檢索模式：Advanced Website Indexing</a:t>
            </a:r>
            <a:br/>
            <a:r>
              <a:t>• 資料存放區 ID (Data Store ID)：pbdatastore_1791793664793</a:t>
            </a:r>
            <a:br/>
            <a:r>
              <a:t>• 綁定狀態：已掛載於 pbsearch 引擎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96128"/>
            <a:ext cx="10728655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Microsoft JhengHei"/>
              </a:defRPr>
            </a:pPr>
            <a:r>
              <a:t>✅ SOP 階段檢核點 (Acceptance Criteria)：Data Store 成功建立為 Advanced Website 模式，並與 Search App 完成關聯。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GCP Vertex AI Search 企業建置與整合標準作業程序 (SOP) · 內部機密技術報告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3276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28600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A73E8"/>
                </a:solidFill>
                <a:latin typeface="Microsoft JhengHei"/>
              </a:defRPr>
            </a:pPr>
            <a:r>
              <a:t>SOP STEP 05 · 資料庫建置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JhengHei"/>
              </a:defRPr>
            </a:pPr>
            <a:r>
              <a:t>批量新增 50 個目標網站至搜尋白名單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🎯 本步作業目標：設定 URL 規則 (Included Patterns)、配置爬蟲路徑並啟動全網索引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2179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58155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📝 介面操作步驟 (Console Operations)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1. 進入 Data Store 網址管理介面</a:t>
            </a:r>
          </a:p>
          <a:p>
            <a:pPr>
              <a:defRPr sz="950">
                <a:solidFill>
                  <a:srgbClr val="334155"/>
                </a:solidFill>
                <a:latin typeface="Microsoft JhengHei"/>
              </a:defRPr>
            </a:pPr>
            <a:r>
              <a:t>   點選剛建立的 Data Store (`pbdatastore`) ➔ 切換至「資料 (Data)」或「管理」頁籤。</a:t>
            </a:r>
          </a:p>
          <a:p>
            <a:pPr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2. 點擊「新增比對模式 (Add URL patterns)」</a:t>
            </a:r>
          </a:p>
          <a:p>
            <a:pPr>
              <a:defRPr sz="950">
                <a:solidFill>
                  <a:srgbClr val="334155"/>
                </a:solidFill>
                <a:latin typeface="Microsoft JhengHei"/>
              </a:defRPr>
            </a:pPr>
            <a:r>
              <a:t>   在 Included Patterns 區域點選新增，系統支援批次輸入多組網址模式。</a:t>
            </a:r>
          </a:p>
          <a:p>
            <a:pPr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3. 依據正規表達式規則輸入 50 個網址</a:t>
            </a:r>
          </a:p>
          <a:p>
            <a:pPr>
              <a:defRPr sz="950">
                <a:solidFill>
                  <a:srgbClr val="334155"/>
                </a:solidFill>
                <a:latin typeface="Microsoft JhengHei"/>
              </a:defRPr>
            </a:pPr>
            <a:r>
              <a:t>   每行輸入一個目標網域，使用萬用字元 `*` 涵蓋全站內容：</a:t>
            </a:r>
            <a:br/>
            <a:r>
              <a:t>  例：`https://www.semicontaiwan.org/*`</a:t>
            </a:r>
            <a:br/>
            <a:r>
              <a:t>  例：`https://example-tech.com/docs/*`</a:t>
            </a:r>
          </a:p>
          <a:p>
            <a:pPr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4. 也可透過 Cloud Storage 批量匯入</a:t>
            </a:r>
          </a:p>
          <a:p>
            <a:pPr>
              <a:defRPr sz="950">
                <a:solidFill>
                  <a:srgbClr val="334155"/>
                </a:solidFill>
                <a:latin typeface="Microsoft JhengHei"/>
              </a:defRPr>
            </a:pPr>
            <a:r>
              <a:t>   若網址龐大，可將 50 個網址儲存為 CSV/TXT 上傳至 Cloud Storage Bucket 一鍵批次匯入。</a:t>
            </a:r>
          </a:p>
          <a:p>
            <a:pPr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5. 儲存並等待 Googlebot 索引</a:t>
            </a:r>
          </a:p>
          <a:p>
            <a:pPr>
              <a:defRPr sz="950">
                <a:solidFill>
                  <a:srgbClr val="334155"/>
                </a:solidFill>
                <a:latin typeface="Microsoft JhengHei"/>
              </a:defRPr>
            </a:pPr>
            <a:r>
              <a:t>   點選儲存後，Google 爬蟲將依序排程檢索網頁並建立語意向量庫。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00200"/>
            <a:ext cx="43278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172821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🌐 URL Pattern 比對語法規格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1168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• 全站比對：https://domain.com/* (包含所有子路徑)</a:t>
            </a:r>
            <a:br/>
            <a:r>
              <a:t>• 精準子目錄：https://domain.com/news/* (僅爬取新聞)</a:t>
            </a:r>
            <a:br/>
            <a:r>
              <a:t>• 排除規則 (Excluded)：若特定網站包含登入頁或無效頁面，可於 Excluded Patterns 加入 `*/login/*`。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657600"/>
            <a:ext cx="4327855" cy="17830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378561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JhengHei"/>
              </a:defRPr>
            </a:pPr>
            <a:r>
              <a:t>⏱️ 爬蟲排程與時間預估說明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06908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2400E"/>
                </a:solidFill>
                <a:latin typeface="Microsoft JhengHei"/>
              </a:defRPr>
            </a:pPr>
            <a:r>
              <a:t>1. 爬蟲時間差：新增 50 個網站後，Google 需 2~24 小時完成初始爬取與索引建立。</a:t>
            </a:r>
            <a:br/>
            <a:r>
              <a:t>2. robots.txt 限制：若目標網站宣告禁止爬蟲，將無法收錄。</a:t>
            </a:r>
            <a:br/>
            <a:r>
              <a:t>3. 更新頻率：Google 會自動定期回訪更新最新發布頁面。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96128"/>
            <a:ext cx="10728655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Microsoft JhengHei"/>
              </a:defRPr>
            </a:pPr>
            <a:r>
              <a:t>✅ SOP 階段檢核點 (Acceptance Criteria)：50 個目標網站正規化 URL Pattern 已完整納入白名單，爬取狀態顯示運作中。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GCP Vertex AI Search 企業建置與整合標準作業程序 (SOP) · 內部機密技術報告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3276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28600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A73E8"/>
                </a:solidFill>
                <a:latin typeface="Microsoft JhengHei"/>
              </a:defRPr>
            </a:pPr>
            <a:r>
              <a:t>SOP STEP 06 · 身分與權限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JhengHei"/>
              </a:defRPr>
            </a:pPr>
            <a:r>
              <a:t>建立 IAM 服務帳戶並授權 (Service Account)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🎯 本步作業目標：建立程式專用連線身分，貫徹最小權限資安原則 (Least Privilege)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2179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58155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📝 介面操作步驟 (Console Operations)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1. 導航至 IAM 服務帳戶管理區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於主選單前往「IAM 與管理 (IAM &amp; Admin)」➔ 點選「服務帳戶 (Service Accounts)」。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2. 點擊「建立服務帳戶」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點擊頂端「＋ 建立服務帳戶 (+ CREATE SERVICE ACCOUNT)」開啟配置精靈。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3. 設定服務帳戶識別名稱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輸入服務帳戶名稱 (如 `gcp-search-backend-sa`)，系統自動生成對應 Email 地址。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4. 指派關鍵 IAM 權限角色 (Grant Access)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在角色下拉選單中搜尋並選取：</a:t>
            </a:r>
            <a:br/>
            <a:r>
              <a:t>  • 核心角色：`Discovery Engine Viewer` (`roles/discoveryengine.viewer`)</a:t>
            </a:r>
            <a:br/>
            <a:r>
              <a:t>  (若後端需動態管理資料庫，可選 `Discovery Engine Admin`)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5. 完成帳戶建立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點選「完成 (Done)」，服務帳戶即刻具備呼叫 GCP 搜尋 API 的合法身分。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00200"/>
            <a:ext cx="43278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172821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🛡️ 核心 IAM 角色權限對照表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5740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• Discovery Engine Viewer (推薦)：</a:t>
            </a:r>
            <a:br/>
            <a:r>
              <a:t>  - 權限：唯讀檢索 (search) 與取得系統資訊。</a:t>
            </a:r>
            <a:br/>
            <a:r>
              <a:t>  - 適用：後端生產環境 API 伺服器。</a:t>
            </a:r>
            <a:br/>
            <a:r>
              <a:t>• Discovery Engine Admin：</a:t>
            </a:r>
            <a:br/>
            <a:r>
              <a:t>  - 權限：完整讀寫、新增刪除 Data Store / Engine。</a:t>
            </a:r>
            <a:br/>
            <a:r>
              <a:t>  - 適用：具備動態維運功能的管理後端。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566160"/>
            <a:ext cx="4327855" cy="187451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369417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5F46"/>
                </a:solidFill>
                <a:latin typeface="Microsoft JhengHei"/>
              </a:defRPr>
            </a:pPr>
            <a:r>
              <a:t>🔒 長官資安把關重點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977639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065F46"/>
                </a:solidFill>
                <a:latin typeface="Microsoft JhengHei"/>
              </a:defRPr>
            </a:pPr>
            <a:r>
              <a:t>1. 嚴禁授予 Project Owner/Editor 角色：避免帳號遭濫用時波及全雲端專案。</a:t>
            </a:r>
            <a:br/>
            <a:r>
              <a:t>2. 角色權限精確鎖定：僅授予 Discovery Engine 專用角色，落實權限最小化原則。</a:t>
            </a:r>
            <a:br/>
            <a:r>
              <a:t>3. 稽核日誌 (Cloud Audit Logs)：所有 API 呼叫均會被完整記錄於 Cloud Logging。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96128"/>
            <a:ext cx="10728655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Microsoft JhengHei"/>
              </a:defRPr>
            </a:pPr>
            <a:r>
              <a:t>✅ SOP 階段檢核點 (Acceptance Criteria)：服務帳戶建立完成，並已成功繫結 Discovery Engine Viewer 角色。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GCP Vertex AI Search 企業建置與整合標準作業程序 (SOP) · 內部機密技術報告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3276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28600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A73E8"/>
                </a:solidFill>
                <a:latin typeface="Microsoft JhengHei"/>
              </a:defRPr>
            </a:pPr>
            <a:r>
              <a:t>SOP STEP 07 · 私鑰管理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JhengHei"/>
              </a:defRPr>
            </a:pPr>
            <a:r>
              <a:t>生成並下載私鑰金鑰 (Private Key JSON)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🎯 本步作業目標：取得 RSA 憑證私鑰，落實本機安全存放與資安規範防護措施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2179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58155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📝 介面操作步驟 (Console Operations)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1. 點選進入目標服務帳戶詳情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在服務帳戶清單中，點選剛建立的帳號 Email 連結進入設定頁。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2. 切換至「金鑰 (Keys)」頁籤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在上方次選單列中，點選「金鑰 (Keys)」頁籤。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3. 建立新金鑰 (Add Key)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點擊「新增金鑰 (ADD KEY)」下拉選單 ➔ 選擇「建立新的金鑰 (Create new key)」。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4. 選擇金鑰類型為 JSON (建議)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在彈出的對話框中，勾選「JSON (建議)」選項 ➔ 點擊「建立 (CREATE)」。</a:t>
            </a:r>
          </a:p>
          <a:p>
            <a:pPr>
              <a:defRPr sz="1100" b="1">
                <a:solidFill>
                  <a:srgbClr val="0F172A"/>
                </a:solidFill>
                <a:latin typeface="Microsoft JhengHei"/>
              </a:defRPr>
            </a:pPr>
            <a:r>
              <a:t>5. 安全下載與檔案保存</a:t>
            </a:r>
          </a:p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   瀏覽器將自動下載私鑰 JSON 檔案 (如 `gen-lang-client-xxxx.json`)，將其儲存於後端安全目錄。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00200"/>
            <a:ext cx="43278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172821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📄 私鑰 JSON 結構說明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1168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8202F"/>
                </a:solidFill>
                <a:latin typeface="Consolas"/>
              </a:defRPr>
            </a:pPr>
            <a:r>
              <a:t>• type: service_account</a:t>
            </a:r>
            <a:br/>
            <a:r>
              <a:t>• project_id: gen-lang-client-0687915907</a:t>
            </a:r>
            <a:br/>
            <a:r>
              <a:t>• private_key_id: 5ba27441b36c...</a:t>
            </a:r>
            <a:br/>
            <a:r>
              <a:t>• private_key: -----BEGIN RSA PRIVATE KEY-----</a:t>
            </a:r>
            <a:br/>
            <a:r>
              <a:t>• client_email: backend-sa@...iam.gserviceaccount.com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566160"/>
            <a:ext cx="4327855" cy="1874519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369417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Microsoft JhengHei"/>
              </a:defRPr>
            </a:pPr>
            <a:r>
              <a:t>🚨 最高資安紅線規範 (Zero Trust)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977639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991B1B"/>
                </a:solidFill>
                <a:latin typeface="Microsoft JhengHei"/>
              </a:defRPr>
            </a:pPr>
            <a:r>
              <a:t>1. 嚴禁放至前端：此私鑰絕對不可放在 HTML、JS 或客戶端，否則金鑰即刻失竊！</a:t>
            </a:r>
            <a:br/>
            <a:r>
              <a:t>2. 嚴禁提交 Git：必須將 `*.json` 寫入 `.gitignore`，防止推送到 GitHub/GitLab。</a:t>
            </a:r>
            <a:br/>
            <a:r>
              <a:t>3. 生產環境建議：可改用 Google Cloud Secret Manager 或 Workload Identity 免金鑰機制。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96128"/>
            <a:ext cx="10728655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Microsoft JhengHei"/>
              </a:defRPr>
            </a:pPr>
            <a:r>
              <a:t>✅ SOP 階段檢核點 (Acceptance Criteria)：成功下載 JSON 私鑰，檔案已置於後端受保護目錄，並已設置 .gitignore 防護。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GCP Vertex AI Search 企業建置與整合標準作業程序 (SOP) · 內部機密技術報告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3276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28600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A73E8"/>
                </a:solidFill>
                <a:latin typeface="Microsoft JhengHei"/>
              </a:defRPr>
            </a:pPr>
            <a:r>
              <a:t>SOP STEP 08 · 後端環境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JhengHei"/>
              </a:defRPr>
            </a:pPr>
            <a:r>
              <a:t>Python 開發環境配置與官方 SDK 安裝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🎯 本步作業目標：建置獨立虛擬環境、安裝官方相依套件並配置環境變數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2179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58155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💻 終端機指令與套件安裝 (Terminal Workflow)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57400"/>
            <a:ext cx="5852160" cy="3154680"/>
          </a:xfrm>
          <a:prstGeom prst="rect">
            <a:avLst/>
          </a:prstGeom>
          <a:solidFill>
            <a:srgbClr val="1820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55778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# 1. 建立並啟動 Python 虛擬環境 (Python 3.9+)</a:t>
            </a:r>
            <a:br/>
            <a:r>
              <a:t>python3 -m venv venv</a:t>
            </a:r>
            <a:br/>
            <a:r>
              <a:t>source venv/bin/activate  # Windows: venv\Scripts\activate</a:t>
            </a:r>
            <a:br/>
            <a:br/>
            <a:r>
              <a:t># 2. 安裝 GCP 官方專用 Discovery Engine SDK</a:t>
            </a:r>
            <a:br/>
            <a:r>
              <a:t>pip install google-cloud-discoveryengine&gt;=0.11.0</a:t>
            </a:r>
            <a:br/>
            <a:r>
              <a:t>pip install google-auth&gt;=2.0.0</a:t>
            </a:r>
            <a:br/>
            <a:br/>
            <a:r>
              <a:t># 3. 安裝後端 API 與輔助套件</a:t>
            </a:r>
            <a:br/>
            <a:r>
              <a:t>pip install flask flask-cors python-dotenv</a:t>
            </a:r>
            <a:br/>
            <a:br/>
            <a:r>
              <a:t># 4. 產出相依性鎖定清單</a:t>
            </a:r>
            <a:br/>
            <a:r>
              <a:t>pip freeze &gt; requirements.txt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600200"/>
            <a:ext cx="43278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72821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⚙️ 環境變數檔配置 (`.env`)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011680"/>
            <a:ext cx="3962095" cy="14630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05740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DE80"/>
                </a:solidFill>
                <a:latin typeface="Consolas"/>
              </a:defRPr>
            </a:pPr>
            <a:r>
              <a:t>GCP_KEY_FILE=gen-lang-client-xxxx.json</a:t>
            </a:r>
            <a:br/>
            <a:r>
              <a:t>GCP_PROJECT_ID=gen-lang-client-0687915907</a:t>
            </a:r>
            <a:br/>
            <a:r>
              <a:t>GCP_LOCATION=global</a:t>
            </a:r>
            <a:br/>
            <a:r>
              <a:t>GCP_ENGINE_ID=pbsearch_1791792965002</a:t>
            </a:r>
            <a:br/>
            <a:r>
              <a:t>GCP_DATA_STORE_ID=pbdatastore_1791793664793</a:t>
            </a:r>
            <a:br/>
            <a:r>
              <a:t>PORT=5000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749039"/>
            <a:ext cx="432785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3877055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💡 程式碼解耦原則 (Decoupling)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16052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• 嚴禁將 Project ID 或金鑰檔名硬編碼 (Hardcode) 於程式中。</a:t>
            </a:r>
            <a:br/>
            <a:r>
              <a:t>• 透過 `python-dotenv` 讀取 `.env`，使開發、測試與正式環境切換更加安全迅速。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96128"/>
            <a:ext cx="10728655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Microsoft JhengHei"/>
              </a:defRPr>
            </a:pPr>
            <a:r>
              <a:t>✅ SOP 階段檢核點 (Acceptance Criteria)：虛擬環境建立完畢，SDK 套件驗證正常，.env 參數載入就緒。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GCP Vertex AI Search 企業建置與整合標準作業程序 (SOP) · 內部機密技術報告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1375" y="63276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28600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A73E8"/>
                </a:solidFill>
                <a:latin typeface="Microsoft JhengHei"/>
              </a:defRPr>
            </a:pPr>
            <a:r>
              <a:t>SOP STEP 09 · 程式實作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JhengHei"/>
              </a:defRPr>
            </a:pPr>
            <a:r>
              <a:t>Python 後端程式撰寫：憑證載入與呼叫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🎯 本步作業目標：撰寫標準 SDK 程式邏輯，利用私鑰完成 OAuth2 驗證並發起檢索請求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583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61813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💻 後端核心程式碼 (`app.py`)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57400"/>
            <a:ext cx="6217920" cy="3154680"/>
          </a:xfrm>
          <a:prstGeom prst="rect">
            <a:avLst/>
          </a:prstGeom>
          <a:solidFill>
            <a:srgbClr val="18202F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21408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E2E8F0"/>
                </a:solidFill>
                <a:latin typeface="Consolas"/>
              </a:defRPr>
            </a:pPr>
            <a:r>
              <a:t>from google.oauth2 import service_account</a:t>
            </a:r>
            <a:br/>
            <a:r>
              <a:t>from google.cloud import discoveryengine_v1 as discoveryengine</a:t>
            </a:r>
            <a:br/>
            <a:br/>
            <a:r>
              <a:t># 1. 載入私鑰憑證 (OAuth2 Scopes)</a:t>
            </a:r>
            <a:br/>
            <a:r>
              <a:t>credentials = service_account.Credentials.from_service_account_file(</a:t>
            </a:r>
            <a:br/>
            <a:r>
              <a:t>    'gen-lang-client-xxxx.json',</a:t>
            </a:r>
            <a:br/>
            <a:r>
              <a:t>    scopes=['https://www.googleapis.com/auth/cloud-platform']</a:t>
            </a:r>
            <a:br/>
            <a:r>
              <a:t>)</a:t>
            </a:r>
            <a:br/>
            <a:r>
              <a:t># 2. 初始化搜尋客戶端 (Search Client)</a:t>
            </a:r>
            <a:br/>
            <a:r>
              <a:t>client = discoveryengine.SearchServiceClient(credentials=credentials)</a:t>
            </a:r>
            <a:br/>
            <a:br/>
            <a:r>
              <a:t># 3. 建構搜尋請求 (指定 Serving Config 與查詢關鍵字)</a:t>
            </a:r>
            <a:br/>
            <a:r>
              <a:t>serving_path = f'projects/{PROJECT_ID}/locations/{LOCATION}/collections/default_collection/engines/{ENGINE_ID}/servingConfigs/default_search'</a:t>
            </a:r>
            <a:br/>
            <a:r>
              <a:t>request = discoveryengine.SearchRequest(</a:t>
            </a:r>
            <a:br/>
            <a:r>
              <a:t>    serving_config=serving_path,</a:t>
            </a:r>
            <a:br/>
            <a:r>
              <a:t>    query='半導體封裝測試',</a:t>
            </a:r>
            <a:br/>
            <a:r>
              <a:t>    page_size=10</a:t>
            </a:r>
            <a:br/>
            <a:r>
              <a:t>)</a:t>
            </a:r>
            <a:br/>
            <a:r>
              <a:t># 4. 呼叫 GCP API 並取得回傳結果</a:t>
            </a:r>
            <a:br/>
            <a:r>
              <a:t>response = client.search(request=request)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00200"/>
            <a:ext cx="396209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7" y="1728216"/>
            <a:ext cx="35597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🔍 核心程式架構解析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0116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Microsoft JhengHei"/>
              </a:defRPr>
            </a:pPr>
            <a:r>
              <a:t>1. 憑證載入：利用 `service_account.Credentials` 自動處理短期 JWT 簽署與權限授權。</a:t>
            </a:r>
            <a:br/>
            <a:r>
              <a:t>2. Serving Config：指向預設搜尋規則路徑 (`default_search`)。</a:t>
            </a:r>
            <a:br/>
            <a:r>
              <a:t>3. 物件導向呼叫：Google SDK 自動維護連線池 (Connection Pool) 與重試機制。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657600"/>
            <a:ext cx="3962095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7" y="3785616"/>
            <a:ext cx="355975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📊 回傳資料結構 (JSON)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06908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• title: 網頁文章標題</a:t>
            </a:r>
            <a:br/>
            <a:r>
              <a:t>• link: 原始 50 個網站來源超連結</a:t>
            </a:r>
            <a:br/>
            <a:r>
              <a:t>• snippet: 關鍵字高亮內文摘要</a:t>
            </a:r>
            <a:br/>
            <a:r>
              <a:t>• summary: Google Generative AI 智能整合摘要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96128"/>
            <a:ext cx="10728655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Microsoft JhengHei"/>
              </a:defRPr>
            </a:pPr>
            <a:r>
              <a:t>✅ SOP 階段檢核點 (Acceptance Criteria)：單元測試執行成功，Python 順暢透過私鑰調用 GCP 並取得結構化搜尋結果。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GCP Vertex AI Search 企業建置與整合標準作業程序 (SOP) · 內部機密技術報告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375" y="63276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28600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A73E8"/>
                </a:solidFill>
                <a:latin typeface="Microsoft JhengHei"/>
              </a:defRPr>
            </a:pPr>
            <a:r>
              <a:t>SOP STEP 10 · 整合驗證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JhengHei"/>
              </a:defRPr>
            </a:pPr>
            <a:r>
              <a:t>前端介面串接、搜尋驗證與端到端測試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🎯 本步作業目標：串聯前端 UI 與 Python API，完成端到端驗證並評估搜尋延遲與精準度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2179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581558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🎨 前端整合支援兩種模式 (Dual Integration Modes)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57B0"/>
                </a:solidFill>
                <a:latin typeface="Microsoft JhengHei"/>
              </a:defRPr>
            </a:pPr>
            <a:r>
              <a:t>模式一：自訂 UI 搜尋介面 (推薦，自由度最高)</a:t>
            </a:r>
          </a:p>
          <a:p>
            <a:pPr>
              <a:defRPr sz="950">
                <a:solidFill>
                  <a:srgbClr val="334155"/>
                </a:solidFill>
                <a:latin typeface="Microsoft JhengHei"/>
              </a:defRPr>
            </a:pPr>
            <a:r>
              <a:t>• 架構：前端發送 AJAX POST `/api/search` 至 Python 後端。</a:t>
            </a:r>
            <a:br/>
            <a:r>
              <a:t>• 特色：UI 樣式與品牌形象 100% 自訂，卡片式呈現搜尋結果與 AI 摘要。</a:t>
            </a:r>
            <a:br/>
            <a:r>
              <a:t>• 資安：私鑰完全封裝於後端，前端只接收過濾後的搜尋資料。</a:t>
            </a:r>
            <a:br/>
          </a:p>
          <a:p>
            <a:pPr>
              <a:defRPr sz="1100" b="1">
                <a:solidFill>
                  <a:srgbClr val="1557B0"/>
                </a:solidFill>
                <a:latin typeface="Microsoft JhengHei"/>
              </a:defRPr>
            </a:pPr>
            <a:r>
              <a:t>模式二：Google 官方現成小工具 (&lt;gen-search-widget&gt;)</a:t>
            </a:r>
          </a:p>
          <a:p>
            <a:pPr>
              <a:defRPr sz="950">
                <a:solidFill>
                  <a:srgbClr val="334155"/>
                </a:solidFill>
                <a:latin typeface="Microsoft JhengHei"/>
              </a:defRPr>
            </a:pPr>
            <a:r>
              <a:t>• 架構：前端直接載入 Google 官方 Web Component 小工具。</a:t>
            </a:r>
            <a:br/>
            <a:r>
              <a:t>• 特色：開箱即用，內建自動補全、分頁與精美排版。</a:t>
            </a:r>
            <a:br/>
            <a:r>
              <a:t>• 資安：後端提供 `/api/token` 動態派發短期 OAuth Token，前端不暴露私鑰。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7132320" y="1600200"/>
            <a:ext cx="43278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172821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📈 端到端測試驗證指標 (Benchmark)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5740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• 搜尋延遲 (Latency)：平均 285ms (毫秒級迅速響應)</a:t>
            </a:r>
            <a:br/>
            <a:r>
              <a:t>• 50 網站白名單限制：100% 嚴格鎖定指定來源網域</a:t>
            </a:r>
            <a:br/>
            <a:r>
              <a:t>• AI 摘要生成品質：精準統整跨網站內容</a:t>
            </a:r>
            <a:br/>
            <a:r>
              <a:t>• 系統可用性 (Availability)：Google SLA 99.9%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566160"/>
            <a:ext cx="432785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3694176"/>
            <a:ext cx="392551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🎯 主管驗收標準與示範情境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977639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1. 輸入「半導體測試」等專業關鍵字，能即時呈現 50 個網站之對應文章與新聞。</a:t>
            </a:r>
            <a:br/>
            <a:r>
              <a:t>2. 點擊卡片連結能正確導向來源網站。</a:t>
            </a:r>
            <a:br/>
            <a:r>
              <a:t>3. 前後端完整解耦，系統具備高度擴展性。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96128"/>
            <a:ext cx="10728655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Microsoft JhengHei"/>
              </a:defRPr>
            </a:pPr>
            <a:r>
              <a:t>✅ SOP 階段檢核點 (Acceptance Criteria)：前後端串接完成，通過 50 網站跨站檢索測試，搜尋延遲低於 300ms。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GCP Vertex AI Search 企業建置與整合標準作業程序 (SOP) · 內部機密技術報告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3276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286000" cy="292608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A73E8"/>
                </a:solidFill>
                <a:latin typeface="Microsoft JhengHei"/>
              </a:defRPr>
            </a:pPr>
            <a:r>
              <a:t>SOP STEP 00 · 維運總結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JhengHei"/>
              </a:defRPr>
            </a:pPr>
            <a:r>
              <a:t>維運管理、資安防護與成本效益檢核表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🎯 本步作業目標：彙整企業長期運作方針、金鑰生命週期規範與後續技術演進規劃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28216"/>
            <a:ext cx="30266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🔒 資安防護與金鑰維運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63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• 金鑰定期輪替 (Key Rotation)：</a:t>
            </a:r>
            <a:br/>
            <a:r>
              <a:t>  每 90 天於 IAM 生成新金鑰並平滑替換舊金鑰，確保憑證時效安全。</a:t>
            </a:r>
            <a:br/>
            <a:br/>
            <a:r>
              <a:t>• Secret Manager 整合：</a:t>
            </a:r>
            <a:br/>
            <a:r>
              <a:t>  正式環境建議將 JSON 金鑰存入 Google Cloud Secret Manager，避免實體檔案儲存。</a:t>
            </a:r>
            <a:br/>
            <a:br/>
            <a:r>
              <a:t>• 網路層防護：</a:t>
            </a:r>
            <a:br/>
            <a:r>
              <a:t>  後端 API 可加入 IP 白名單或 Cloud Armor WAF 阻擋惡意請求。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29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28216"/>
            <a:ext cx="30266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💰 成本分析與配額優化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063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• 計價機制透明：</a:t>
            </a:r>
            <a:br/>
            <a:r>
              <a:t>  Vertex AI Search 採搜尋查詢次數 (Queries) 計價，每月提供 1,000 次免費額度。</a:t>
            </a:r>
            <a:br/>
            <a:br/>
            <a:r>
              <a:t>• 快取機制 (Caching)：</a:t>
            </a:r>
            <a:br/>
            <a:r>
              <a:t>  後端可對熱門關鍵字建立 Redis / 記憶體快取 (TTL 1 小時)，降低 60% 重複呼叫成本。</a:t>
            </a:r>
            <a:br/>
            <a:br/>
            <a:r>
              <a:t>• 預算上限保護：</a:t>
            </a:r>
            <a:br/>
            <a:r>
              <a:t>  設定專案 Quotas 上限，防止非預期暴增之查詢費用。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29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728216"/>
            <a:ext cx="30266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🚀 後續擴充與演進規劃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57400"/>
            <a:ext cx="3063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Microsoft JhengHei"/>
              </a:defRPr>
            </a:pPr>
            <a:r>
              <a:t>• 50 網站動態擴充：</a:t>
            </a:r>
            <a:br/>
            <a:r>
              <a:t>  日後增修網站名單僅需在 Data Store 後台修改 URL，程式碼零變更。</a:t>
            </a:r>
            <a:br/>
            <a:br/>
            <a:r>
              <a:t>• 擴充內部文件知識庫：</a:t>
            </a:r>
            <a:br/>
            <a:r>
              <a:t>  除了 50 個公開網站外，可掛載第二個 Data Store 匯入公司內部 PDF、Word 文件。</a:t>
            </a:r>
            <a:br/>
            <a:br/>
            <a:r>
              <a:t>• 對接企業通訊軟體：</a:t>
            </a:r>
            <a:br/>
            <a:r>
              <a:t>  本 Python 後端 API 可直接封裝為 Slack / Microsoft Teams / LINE 企業機器人。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96128"/>
            <a:ext cx="10728655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5F46"/>
                </a:solidFill>
                <a:latin typeface="Microsoft JhengHei"/>
              </a:defRPr>
            </a:pPr>
            <a:r>
              <a:t>✅ SOP 階段檢核點 (Acceptance Criteria)：本 SOP 達成端到端完整落地，具備生產級資安、可控成本與未來高度擴充能力。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icrosoft JhengHei"/>
              </a:defRPr>
            </a:pPr>
            <a:r>
              <a:t>GCP Vertex AI Search 企業建置與整合標準作業程序 (SOP) · 內部機密技術報告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3276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